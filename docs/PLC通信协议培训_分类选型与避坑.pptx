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890C"/>
                </a:solidFill>
                <a:latin typeface="微软雅黑"/>
                <a:ea typeface="微软雅黑"/>
              </a:rPr>
              <a:t>新人培训 · 工业现场通信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74519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2F6F8"/>
                </a:solidFill>
                <a:latin typeface="微软雅黑"/>
                <a:ea typeface="微软雅黑"/>
              </a:rPr>
              <a:t>PLC 通信协议入门</a:t>
            </a:r>
          </a:p>
          <a:p>
            <a:pPr algn="l">
              <a:spcBef>
                <a:spcPts val="1400"/>
              </a:spcBef>
            </a:pPr>
            <a:r>
              <a:rPr sz="2600" b="1" i="0">
                <a:solidFill>
                  <a:srgbClr val="E8890C"/>
                </a:solidFill>
                <a:latin typeface="微软雅黑"/>
                <a:ea typeface="微软雅黑"/>
              </a:rPr>
              <a:t>什么是协议 · 分类 · 选型方法 · 协议坑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94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FA5B3"/>
                </a:solidFill>
                <a:latin typeface="微软雅黑"/>
                <a:ea typeface="微软雅黑"/>
              </a:rPr>
              <a:t>基于 omniplc 多品牌落地实践:16 类协议、503 项单测、tests/golden 黄金帧字节级契约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892040"/>
            <a:ext cx="1344168" cy="402336"/>
          </a:xfrm>
          <a:prstGeom prst="roundRect">
            <a:avLst>
              <a:gd name="adj" fmla="val 1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E8890C"/>
                </a:solidFill>
                <a:latin typeface="微软雅黑"/>
                <a:ea typeface="微软雅黑"/>
              </a:rPr>
              <a:t>502  </a:t>
            </a:r>
            <a:r>
              <a:rPr sz="1050" b="0" i="0">
                <a:solidFill>
                  <a:srgbClr val="8FA5B3"/>
                </a:solidFill>
                <a:latin typeface="微软雅黑"/>
                <a:ea typeface="微软雅黑"/>
              </a:rPr>
              <a:t>Modbus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1952" y="4892040"/>
            <a:ext cx="1344168" cy="402336"/>
          </a:xfrm>
          <a:prstGeom prst="roundRect">
            <a:avLst>
              <a:gd name="adj" fmla="val 1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E8890C"/>
                </a:solidFill>
                <a:latin typeface="微软雅黑"/>
                <a:ea typeface="微软雅黑"/>
              </a:rPr>
              <a:t>102  </a:t>
            </a:r>
            <a:r>
              <a:rPr sz="1050" b="0" i="0">
                <a:solidFill>
                  <a:srgbClr val="8FA5B3"/>
                </a:solidFill>
                <a:latin typeface="微软雅黑"/>
                <a:ea typeface="微软雅黑"/>
              </a:rPr>
              <a:t>S7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6704" y="4892040"/>
            <a:ext cx="1344168" cy="402336"/>
          </a:xfrm>
          <a:prstGeom prst="roundRect">
            <a:avLst>
              <a:gd name="adj" fmla="val 1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E8890C"/>
                </a:solidFill>
                <a:latin typeface="微软雅黑"/>
                <a:ea typeface="微软雅黑"/>
              </a:rPr>
              <a:t>44818  </a:t>
            </a:r>
            <a:r>
              <a:rPr sz="1050" b="0" i="0">
                <a:solidFill>
                  <a:srgbClr val="8FA5B3"/>
                </a:solidFill>
                <a:latin typeface="微软雅黑"/>
                <a:ea typeface="微软雅黑"/>
              </a:rPr>
              <a:t>CIP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91456" y="4892040"/>
            <a:ext cx="1344168" cy="402336"/>
          </a:xfrm>
          <a:prstGeom prst="roundRect">
            <a:avLst>
              <a:gd name="adj" fmla="val 1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E8890C"/>
                </a:solidFill>
                <a:latin typeface="微软雅黑"/>
                <a:ea typeface="微软雅黑"/>
              </a:rPr>
              <a:t>9600  </a:t>
            </a:r>
            <a:r>
              <a:rPr sz="1050" b="0" i="0">
                <a:solidFill>
                  <a:srgbClr val="8FA5B3"/>
                </a:solidFill>
                <a:latin typeface="微软雅黑"/>
                <a:ea typeface="微软雅黑"/>
              </a:rPr>
              <a:t>FINS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4892040"/>
            <a:ext cx="1344168" cy="402336"/>
          </a:xfrm>
          <a:prstGeom prst="roundRect">
            <a:avLst>
              <a:gd name="adj" fmla="val 1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E8890C"/>
                </a:solidFill>
                <a:latin typeface="微软雅黑"/>
                <a:ea typeface="微软雅黑"/>
              </a:rPr>
              <a:t>5000  </a:t>
            </a:r>
            <a:r>
              <a:rPr sz="1050" b="0" i="0">
                <a:solidFill>
                  <a:srgbClr val="8FA5B3"/>
                </a:solidFill>
                <a:latin typeface="微软雅黑"/>
                <a:ea typeface="微软雅黑"/>
              </a:rPr>
              <a:t>MC/MTC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892040"/>
            <a:ext cx="1344168" cy="402336"/>
          </a:xfrm>
          <a:prstGeom prst="roundRect">
            <a:avLst>
              <a:gd name="adj" fmla="val 1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E8890C"/>
                </a:solidFill>
                <a:latin typeface="微软雅黑"/>
                <a:ea typeface="微软雅黑"/>
              </a:rPr>
              <a:t>4840  </a:t>
            </a:r>
            <a:r>
              <a:rPr sz="1050" b="0" i="0">
                <a:solidFill>
                  <a:srgbClr val="8FA5B3"/>
                </a:solidFill>
                <a:latin typeface="微软雅黑"/>
                <a:ea typeface="微软雅黑"/>
              </a:rPr>
              <a:t>OPC-UA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4892040"/>
            <a:ext cx="1344168" cy="402336"/>
          </a:xfrm>
          <a:prstGeom prst="roundRect">
            <a:avLst>
              <a:gd name="adj" fmla="val 1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E8890C"/>
                </a:solidFill>
                <a:latin typeface="微软雅黑"/>
                <a:ea typeface="微软雅黑"/>
              </a:rPr>
              <a:t>8000  </a:t>
            </a:r>
            <a:r>
              <a:rPr sz="1050" b="0" i="0">
                <a:solidFill>
                  <a:srgbClr val="8FA5B3"/>
                </a:solidFill>
                <a:latin typeface="微软雅黑"/>
                <a:ea typeface="微软雅黑"/>
              </a:rPr>
              <a:t>KV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0464" y="4892040"/>
            <a:ext cx="1344168" cy="402336"/>
          </a:xfrm>
          <a:prstGeom prst="roundRect">
            <a:avLst>
              <a:gd name="adj" fmla="val 1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E8890C"/>
                </a:solidFill>
                <a:latin typeface="微软雅黑"/>
                <a:ea typeface="微软雅黑"/>
              </a:rPr>
              <a:t>851  </a:t>
            </a:r>
            <a:r>
              <a:rPr sz="1050" b="0" i="0">
                <a:solidFill>
                  <a:srgbClr val="8FA5B3"/>
                </a:solidFill>
                <a:latin typeface="微软雅黑"/>
                <a:ea typeface="微软雅黑"/>
              </a:rPr>
              <a:t>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FA5B3"/>
                </a:solidFill>
                <a:latin typeface="微软雅黑"/>
                <a:ea typeface="微软雅黑"/>
              </a:rPr>
              <a:t>端口徽章 = 现场排查的第一线索,本课件与 docs/architecture.md 对应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A5B3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01  ·  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什么是通信协议?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给新人:把「连不上 / 数不对」翻译成字节层面的问题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E3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50" b="1" i="0">
                <a:solidFill>
                  <a:srgbClr val="1F4E5F"/>
                </a:solidFill>
                <a:latin typeface="微软雅黑"/>
                <a:ea typeface="微软雅黑"/>
              </a:rPr>
              <a:t>协议 = 通信双方事先约定的字节规则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先说什么、再说什么、怎么收尾;约定越公开,能对话的设备越多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5F"/>
                </a:solidFill>
                <a:latin typeface="微软雅黑"/>
                <a:ea typeface="微软雅黑"/>
              </a:rPr>
              <a:t>① 链路:路怎么通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79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A32"/>
                </a:solidFill>
                <a:latin typeface="微软雅黑"/>
                <a:ea typeface="微软雅黑"/>
              </a:rPr>
              <a:t>TCP → IP + 端口;串口 → COM 口 + 波特率(如 9600-8N2)。先有路,才谈得上说话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679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5F"/>
                </a:solidFill>
                <a:latin typeface="微软雅黑"/>
                <a:ea typeface="微软雅黑"/>
              </a:rPr>
              <a:t>② 成帧:信怎么封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33672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A32"/>
                </a:solidFill>
                <a:latin typeface="微软雅黑"/>
                <a:ea typeface="微软雅黑"/>
              </a:rPr>
              <a:t>一帧从哪开始、到哪结束;粘包怎么拆;校验(CRC / 和校验)怎么算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46903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5F"/>
                </a:solidFill>
                <a:latin typeface="微软雅黑"/>
                <a:ea typeface="微软雅黑"/>
              </a:rPr>
              <a:t>③ 语义:话怎么说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12664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A32"/>
                </a:solidFill>
                <a:latin typeface="微软雅黑"/>
                <a:ea typeface="微软雅黑"/>
              </a:rPr>
              <a:t>命令(读/写)+ 地址(D100、DB1.DBD6)+ 数据(字序、类型、宽度)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27632"/>
            <a:ext cx="5742432" cy="4526280"/>
          </a:xfrm>
          <a:prstGeom prst="roundRect">
            <a:avLst>
              <a:gd name="adj" fmla="val 4500"/>
            </a:avLst>
          </a:prstGeom>
          <a:solidFill>
            <a:srgbClr val="1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1051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0A64A"/>
                </a:solidFill>
                <a:latin typeface="微软雅黑"/>
                <a:ea typeface="微软雅黑"/>
              </a:rPr>
              <a:t>真实拆解:MC 3E 读 D100(三菱,端口 5000)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4942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7E3EA"/>
                </a:solidFill>
                <a:latin typeface="微软雅黑"/>
                <a:ea typeface="微软雅黑"/>
              </a:rPr>
              <a:t>50 00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249424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3EA"/>
                </a:solidFill>
                <a:latin typeface="微软雅黑"/>
                <a:ea typeface="微软雅黑"/>
              </a:rPr>
              <a:t>副头:MC 3E 帧标识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5176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B3C8"/>
                </a:solidFill>
                <a:latin typeface="微软雅黑"/>
                <a:ea typeface="微软雅黑"/>
              </a:rPr>
              <a:t>00 FF FF 03 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6517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3EA"/>
                </a:solidFill>
                <a:latin typeface="微软雅黑"/>
                <a:ea typeface="微软雅黑"/>
              </a:rPr>
              <a:t>路由:网络00 / 本站FF / 目标I/O / 站号00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5409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FA5B3"/>
                </a:solidFill>
                <a:latin typeface="微软雅黑"/>
                <a:ea typeface="微软雅黑"/>
              </a:rPr>
              <a:t>0C 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054096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3EA"/>
                </a:solidFill>
                <a:latin typeface="微软雅黑"/>
                <a:ea typeface="微软雅黑"/>
              </a:rPr>
              <a:t>请求数据长 = 12(小端)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564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7E3EA"/>
                </a:solidFill>
                <a:latin typeface="微软雅黑"/>
                <a:ea typeface="微软雅黑"/>
              </a:rPr>
              <a:t>10 00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45643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3EA"/>
                </a:solidFill>
                <a:latin typeface="微软雅黑"/>
                <a:ea typeface="微软雅黑"/>
              </a:rPr>
              <a:t>监视定时器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85876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0A64A"/>
                </a:solidFill>
                <a:latin typeface="微软雅黑"/>
                <a:ea typeface="微软雅黑"/>
              </a:rPr>
              <a:t>01 04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858768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3EA"/>
                </a:solidFill>
                <a:latin typeface="微软雅黑"/>
                <a:ea typeface="微软雅黑"/>
              </a:rPr>
              <a:t>命令:批量读「字软元件」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26110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7E3EA"/>
                </a:solidFill>
                <a:latin typeface="微软雅黑"/>
                <a:ea typeface="微软雅黑"/>
              </a:rPr>
              <a:t>00 00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261104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3EA"/>
                </a:solidFill>
                <a:latin typeface="微软雅黑"/>
                <a:ea typeface="微软雅黑"/>
              </a:rPr>
              <a:t>子命令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6634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0A64A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66344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3EA"/>
                </a:solidFill>
                <a:latin typeface="微软雅黑"/>
                <a:ea typeface="微软雅黑"/>
              </a:rPr>
              <a:t>软元件代码:D 寄存器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06577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0A64A"/>
                </a:solidFill>
                <a:latin typeface="微软雅黑"/>
                <a:ea typeface="微软雅黑"/>
              </a:rPr>
              <a:t>64 00 00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065776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3EA"/>
                </a:solidFill>
                <a:latin typeface="微软雅黑"/>
                <a:ea typeface="微软雅黑"/>
              </a:rPr>
              <a:t>编号 0x64 = 100 → D100(小端)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46811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7E3EA"/>
                </a:solidFill>
                <a:latin typeface="微软雅黑"/>
                <a:ea typeface="微软雅黑"/>
              </a:rPr>
              <a:t>01 00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46811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7E3EA"/>
                </a:solidFill>
                <a:latin typeface="微软雅黑"/>
                <a:ea typeface="微软雅黑"/>
              </a:rPr>
              <a:t>点数:1 个字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74243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FD4B0"/>
                </a:solidFill>
                <a:latin typeface="微软雅黑"/>
                <a:ea typeface="微软雅黑"/>
              </a:rPr>
              <a:t>应答:D0 00 … 04 00 | 00 00 | E2 04 → 1250(小端)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35508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55664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4E5F"/>
                </a:solidFill>
                <a:latin typeface="微软雅黑"/>
                <a:ea typeface="微软雅黑"/>
              </a:rPr>
              <a:t>所谓「接入一个协议」,就是学会写它这封信 —— omniplc 的 16 类客户端就是 16 套契约的翻译官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02  ·  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品牌割据:一个品牌一套私有帧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上位机每接一个品牌就重学一套协议 —— 统一库的价值在于把差异关在驱动层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828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5F"/>
                </a:solidFill>
                <a:latin typeface="微软雅黑"/>
                <a:ea typeface="微软雅黑"/>
              </a:rPr>
              <a:t>品牌割据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09928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2A32"/>
                </a:solidFill>
                <a:latin typeface="微软雅黑"/>
                <a:ea typeface="微软雅黑"/>
              </a:rPr>
              <a:t>三菱 MC、欧姆龙 FINS、西门子 S7comm、罗克韦尔 CIP 互不兼容,帧格式各玩各的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25496"/>
            <a:ext cx="1828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5F"/>
                </a:solidFill>
                <a:latin typeface="微软雅黑"/>
                <a:ea typeface="微软雅黑"/>
              </a:rPr>
              <a:t>同族多代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843784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2A32"/>
                </a:solidFill>
                <a:latin typeface="微软雅黑"/>
                <a:ea typeface="微软雅黑"/>
              </a:rPr>
              <a:t>同一品牌还分帧型:三菱以太网 3E/4E、老机型 1E、串口 3C/4C,编码与进制都不同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59352"/>
            <a:ext cx="1828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5F"/>
                </a:solidFill>
                <a:latin typeface="微软雅黑"/>
                <a:ea typeface="微软雅黑"/>
              </a:rPr>
              <a:t>对接之痛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977639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2A32"/>
                </a:solidFill>
                <a:latin typeface="微软雅黑"/>
                <a:ea typeface="微软雅黑"/>
              </a:rPr>
              <a:t>现场常见 5~8 个品牌混跑;逐个写驱动成本高,于是有了统一抽象与兼容协议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93208"/>
            <a:ext cx="1828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5F"/>
                </a:solidFill>
                <a:latin typeface="微软雅黑"/>
                <a:ea typeface="微软雅黑"/>
              </a:rPr>
              <a:t>统一抽象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11149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2A32"/>
                </a:solidFill>
                <a:latin typeface="微软雅黑"/>
                <a:ea typeface="微软雅黑"/>
              </a:rPr>
              <a:t>omniplc 把帧差异关进驱动层:一套 API、统一错误契约、全局报文调试,503 项单测护栏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691640"/>
            <a:ext cx="4828032" cy="1005840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开放标准(跨品牌)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00" b="0" i="0">
                <a:solidFill>
                  <a:srgbClr val="1E2A32"/>
                </a:solidFill>
                <a:latin typeface="微软雅黑"/>
                <a:ea typeface="微软雅黑"/>
              </a:rPr>
              <a:t>Modbus 502  ·  OPC-UA 4840  ·  MTConnect 5000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807208"/>
            <a:ext cx="4828032" cy="1005840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日系字协议(软元件)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00" b="0" i="0">
                <a:solidFill>
                  <a:srgbClr val="1E2A32"/>
                </a:solidFill>
                <a:latin typeface="微软雅黑"/>
                <a:ea typeface="微软雅黑"/>
              </a:rPr>
              <a:t>三菱 MC 5000 · 欧姆龙 FINS 9600 · 基恩士 KV 8000 · 松下 MEWTOCOL · 丰田 1025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22776"/>
            <a:ext cx="4828032" cy="1005840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欧美符号寻址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00" b="0" i="0">
                <a:solidFill>
                  <a:srgbClr val="1E2A32"/>
                </a:solidFill>
                <a:latin typeface="微软雅黑"/>
                <a:ea typeface="微软雅黑"/>
              </a:rPr>
              <a:t>西门子 S7 102 · AB EtherNet/IP 44818 · 倍福 ADS 851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038344"/>
            <a:ext cx="4828032" cy="1005840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专用通道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00" b="0" i="0">
                <a:solidFill>
                  <a:srgbClr val="1E2A32"/>
                </a:solidFill>
                <a:latin typeface="微软雅黑"/>
                <a:ea typeface="微软雅黑"/>
              </a:rPr>
              <a:t>MX Component(COM)· 自定义 TCP 成帧 · SR 扫码枪 9004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17220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7080"/>
                </a:solidFill>
                <a:latin typeface="微软雅黑"/>
                <a:ea typeface="微软雅黑"/>
              </a:rPr>
              <a:t>本库对应落地:16 类协议 / 14 品牌族,同步 + 异步两套镜像 API,503 项单测护航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03  ·  分类框架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协议分类的三个维度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同一个协议可同时按走线、开放性、实现形态归类;三个维度回答三个不同的问题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3611880" cy="4434840"/>
          </a:xfrm>
          <a:prstGeom prst="roundRect">
            <a:avLst>
              <a:gd name="adj" fmla="val 45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1F4E5F"/>
                </a:solidFill>
                <a:latin typeface="微软雅黑"/>
                <a:ea typeface="微软雅黑"/>
              </a:rPr>
              <a:t>维度一 · 走线介质</a:t>
            </a:r>
          </a:p>
          <a:p>
            <a:pPr algn="l">
              <a:spcAft>
                <a:spcPts val="1000"/>
              </a:spcAft>
            </a:pPr>
            <a:r>
              <a:rPr sz="1150" b="0" i="1">
                <a:solidFill>
                  <a:srgbClr val="E8890C"/>
                </a:solidFill>
                <a:latin typeface="微软雅黑"/>
                <a:ea typeface="微软雅黑"/>
              </a:rPr>
              <a:t>决定:粘包怎么拆、超时怎么算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E2A32"/>
                </a:solidFill>
                <a:latin typeface="微软雅黑"/>
                <a:ea typeface="微软雅黑"/>
              </a:rPr>
              <a:t>以太网 TCP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可靠字节流,帧长定界拆包(MC 3E、FINS、CIP、S7)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E2A32"/>
                </a:solidFill>
                <a:latin typeface="微软雅黑"/>
                <a:ea typeface="微软雅黑"/>
              </a:rPr>
              <a:t>以太网 UDP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一问一答一数据报,整包收取(MC UDP、FINS UDP)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E2A32"/>
                </a:solidFill>
                <a:latin typeface="微软雅黑"/>
                <a:ea typeface="微软雅黑"/>
              </a:rPr>
              <a:t>串口 RS-232/485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站号轮询 + 校验和(Modbus RTU、MC 3C/4C)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E2A32"/>
                </a:solidFill>
                <a:latin typeface="微软雅黑"/>
                <a:ea typeface="微软雅黑"/>
              </a:rPr>
              <a:t>HTTP/XML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请求-响应文档流(MTConnect)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627632"/>
            <a:ext cx="3611880" cy="4434840"/>
          </a:xfrm>
          <a:prstGeom prst="roundRect">
            <a:avLst>
              <a:gd name="adj" fmla="val 45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1F4E5F"/>
                </a:solidFill>
                <a:latin typeface="微软雅黑"/>
                <a:ea typeface="微软雅黑"/>
              </a:rPr>
              <a:t>维度二 · 协议开放性</a:t>
            </a:r>
          </a:p>
          <a:p>
            <a:pPr algn="l">
              <a:spcAft>
                <a:spcPts val="1000"/>
              </a:spcAft>
            </a:pPr>
            <a:r>
              <a:rPr sz="1150" b="0" i="1">
                <a:solidFill>
                  <a:srgbClr val="E8890C"/>
                </a:solidFill>
                <a:latin typeface="微软雅黑"/>
                <a:ea typeface="微软雅黑"/>
              </a:rPr>
              <a:t>决定:资料好不好找、能管多少设备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E2A32"/>
                </a:solidFill>
                <a:latin typeface="微软雅黑"/>
                <a:ea typeface="微软雅黑"/>
              </a:rPr>
              <a:t>开放标准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规格公开、跨厂商:Modbus / OPC-UA / MTConnect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E2A32"/>
                </a:solidFill>
                <a:latin typeface="微软雅黑"/>
                <a:ea typeface="微软雅黑"/>
              </a:rPr>
              <a:t>厂商私有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只管自家设备:MC / FINS / S7comm / CIP / ADS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E2A32"/>
                </a:solidFill>
                <a:latin typeface="微软雅黑"/>
                <a:ea typeface="微软雅黑"/>
              </a:rPr>
              <a:t>兼容借道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汇川·松下·基恩士借用 MC 或 Modbus 的壳,码表不同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27632"/>
            <a:ext cx="3611880" cy="4434840"/>
          </a:xfrm>
          <a:prstGeom prst="roundRect">
            <a:avLst>
              <a:gd name="adj" fmla="val 45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1F4E5F"/>
                </a:solidFill>
                <a:latin typeface="微软雅黑"/>
                <a:ea typeface="微软雅黑"/>
              </a:rPr>
              <a:t>维度三 · 实现形态</a:t>
            </a:r>
          </a:p>
          <a:p>
            <a:pPr algn="l">
              <a:spcAft>
                <a:spcPts val="1000"/>
              </a:spcAft>
            </a:pPr>
            <a:r>
              <a:rPr sz="1150" b="0" i="1">
                <a:solidFill>
                  <a:srgbClr val="E8890C"/>
                </a:solidFill>
                <a:latin typeface="微软雅黑"/>
                <a:ea typeface="微软雅黑"/>
              </a:rPr>
              <a:t>决定:你踩的是协议坑还是部署坑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E2A32"/>
                </a:solidFill>
                <a:latin typeface="微软雅黑"/>
                <a:ea typeface="微软雅黑"/>
              </a:rPr>
              <a:t>走线帧自研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字节编解码全程可控(Modbus、MC、FINS、TOYOPUC)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E2A32"/>
                </a:solidFill>
                <a:latin typeface="微软雅黑"/>
                <a:ea typeface="微软雅黑"/>
              </a:rPr>
              <a:t>会话型封装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DLL/COM/HTTP 代理连接(S7→snap7、ADS→pyads、MX→COM)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E2A32"/>
                </a:solidFill>
                <a:latin typeface="微软雅黑"/>
                <a:ea typeface="微软雅黑"/>
              </a:rPr>
              <a:t>共通点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会话型同样套 BaseClient 状态机:连接/超时/惰性重连一致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0936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选型口诀:先看走线(线怎么接),再查开放性(资料在哪),最后定形态(坑在协议还是在部署)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04  ·  协议来源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各协议的出身与现状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标准组织的协议管「互操作」,厂商协议管「自家设备」—— 出身决定性格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72768"/>
          <a:ext cx="112745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2148840"/>
                <a:gridCol w="400507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协议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出身(谁定的 / 何时)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开放度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现状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Modbus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Modicon,1979,为 PLC 互连而生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完全公开免费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事实标准;仪表 / 网关 / 国产 PLC 通吃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OPC-UA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OPC 基金会,2008(IEC 62541)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公开规范 + 开源实现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上位统一层;新设备 Server 渐成标配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MTConnect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美国 AMT 协会,2008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公开标准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CNC 数采主流;台湾 PCB 机械常用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MC / SLMP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三菱电机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完整手册公开(SH-080956 等)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亚洲 OEM 事实标准;汇川/松下/基恩士兼容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FINS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欧姆龙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手册公开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欧姆龙系专用,生态集中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EtherNet/IP(CIP)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罗克韦尔 / ODVA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规范公开(会员制)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北美主流;AB 与 NJ/NX 共用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S7comm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西门子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官方不公开(社区逆向)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西门子系;开放口引导到 OPC-UA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ADS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倍福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配套文档公开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TwinCAT 生态专用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Host Link / MEWTOCOL / TOYOPUC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基恩士 / 松下 / 丰田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手册公开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各自品牌系专用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053328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199632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F7080"/>
                </a:solidFill>
                <a:latin typeface="微软雅黑"/>
                <a:ea typeface="微软雅黑"/>
              </a:rPr>
              <a:t>读法:开放度列决定「你能不能拿到权威资料」,出身列决定「它的模型为谁设计」—— 下一页解释为什么 MC 虽是厂商协议,却能被多厂商兼容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05  ·  兼容性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为什么 MC 能多厂商兼容,S7comm 不能?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同样是厂商私有协议,命运由三个因素决定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112745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846320"/>
                <a:gridCol w="4873752"/>
              </a:tblGrid>
              <a:tr h="7680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决定因素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MC(三菱)—— 被广泛兼容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S7comm(西门子)—— 难以兼容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官方态度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完整规范公开(SLMP 手册),兼容等于扩大三菱生态,乐见其成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官方不公开协议文档,开放性收敛在 OPC-UA 与 PUT-GET 授权通道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技术门槛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无连接状态、一问一答、线性软元件地址表 —— 个人一周可写出可用实现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会话协商(PDU / 机架槽位路由 / 连接资源管理),逆向与稳定实现成本高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生态动力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亚洲 OEM 机台(台湾 PCB / 钻孔设备、国产设备)大量跟随三菱,兼容 MC = 进入现成市场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高端市场靠自家工具链(TIA 博途)锁定,开放动机弱;第三方多为工具库而非设备兼容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兼容现状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汇川、松下、基恩士 KV、众多国产 PLC 直接提供 MC 兼容模式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设备侧几乎无兼容者;生态内通过 OPC-UA / S7-200 SMART 等外围通道对接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669280"/>
            <a:ext cx="11277295" cy="658368"/>
          </a:xfrm>
          <a:prstGeom prst="roundRect">
            <a:avLst>
              <a:gd name="adj" fmla="val 8000"/>
            </a:avLst>
          </a:prstGeom>
          <a:solidFill>
            <a:srgbClr val="E3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多厂商兼容 = 文档公开 × 模型简单 × 生态驱动,缺一不可;</a:t>
            </a:r>
            <a:r>
              <a:rPr sz="1350" b="0" i="0">
                <a:solidFill>
                  <a:srgbClr val="1E2A32"/>
                </a:solidFill>
                <a:latin typeface="微软雅黑"/>
                <a:ea typeface="微软雅黑"/>
              </a:rPr>
              <a:t>「第三方工具能不能接」是判断协议开放状况的实用信号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注:兼容不等于照抄 —— 汇川借 MC 帧但换自己的软元件码表,基恩士借 SLMP 但端口与码不同,接之前必查各家手册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06  ·  速查总表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品牌 × 协议 × 端口 对照表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代表设备与默认端口;现场以此表为排查起点(端口以设备手册为准)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81328"/>
          <a:ext cx="11274552" cy="4594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148840"/>
                <a:gridCol w="2057400"/>
                <a:gridCol w="2148840"/>
                <a:gridCol w="2862072"/>
              </a:tblGrid>
              <a:tr h="30632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品牌 / 代表设备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协议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通道 · 默认端口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寻址模型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要点 / 代表性坑</a:t>
                      </a:r>
                    </a:p>
                  </a:txBody>
                  <a:tcPr anchor="ctr" marL="73152" marR="73152" marT="18288" marB="18288">
                    <a:solidFill>
                      <a:srgbClr val="1F4E5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三菱 Q/L/R/iQ-R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MC 3E/4E(SLMP)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TCP·UDP 5000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软元件·十六进制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老机型 1E:X/Y 八进制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三菱 C24 串口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MC 3C/4C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RS-232/485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软元件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3C ASCII,校验含 ETX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欧姆龙 CJ/CS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FINS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TCP·UDP 9600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软元件+字码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先握手;大端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欧姆龙 NJ/NX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EtherNet/IP CIP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TCP 44818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变量 / 标签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复用 AB 驱动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基恩士 KV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Host Link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TCP·UDP 8000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软元件+.U 后缀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ASCII 行式 RD/WR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基恩士 KV-7500+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MC 兼容(SLMP)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TCP·UDP 5000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自有码表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借三菱帧,码表混入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汇川 H3U/H5U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Modbus TCP/RTU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502 · 串口 9600-8N2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寄存器映射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标准 Modbus+地址翻译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松下 FP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MEWTOCOL / MC 3E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串口 · 以太网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软元件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双协议并存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丰田 TOYOPUC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计算机链接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TCP·UDP 1025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软元件·全十六进制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多字低字在前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AB ControlLogix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EtherNet/IP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TCP 44818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标签自描述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unconnected/connected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倍福 TwinCAT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ADS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AMS 851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变量名 + NetId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Windows 缺 DLL 报 OSError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西门子 S7 全系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S7comm(封装 snap7)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ISO-on-TCP 102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DB 绝对寻址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大端;PUT-GET 授权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OPC-UA 服务器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OPC-UA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TCP 4840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语义 NodeId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跨品牌上位首选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CNC(FANUC/三菱)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MTConnect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HTTP 5000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数据项 id/name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2A32"/>
                          </a:solidFill>
                          <a:latin typeface="微软雅黑"/>
                          <a:ea typeface="微软雅黑"/>
                        </a:rPr>
                        <a:t>只读数采</a:t>
                      </a:r>
                    </a:p>
                  </a:txBody>
                  <a:tcPr anchor="ctr" marL="73152" marR="73152" marT="18288" marB="18288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21792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F7080"/>
                </a:solidFill>
                <a:latin typeface="微软雅黑"/>
                <a:ea typeface="微软雅黑"/>
              </a:rPr>
              <a:t>用法:先锁定品牌行拿协议与端口;「寻址模型」列预告了你会踩哪类坑 —— 软元件查进制,标签查类型,寄存器查映射表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07  ·  开放标准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开放协议三件套:Modbus / OPC-UA / MTConnect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规格公开、不锁品牌 —— 跨品牌项目优先考虑它们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3611880" cy="4480560"/>
          </a:xfrm>
          <a:prstGeom prst="roundRect">
            <a:avLst>
              <a:gd name="adj" fmla="val 45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900"/>
              </a:spcAft>
            </a:pPr>
            <a:r>
              <a:rPr sz="2100" b="1" i="0">
                <a:solidFill>
                  <a:srgbClr val="1F4E5F"/>
                </a:solidFill>
                <a:latin typeface="微软雅黑"/>
                <a:ea typeface="微软雅黑"/>
              </a:rPr>
              <a:t>Modbus</a:t>
            </a:r>
            <a:r>
              <a:rPr sz="1250" b="1" i="0">
                <a:solidFill>
                  <a:srgbClr val="E8890C"/>
                </a:solidFill>
                <a:latin typeface="微软雅黑"/>
                <a:ea typeface="微软雅黑"/>
              </a:rPr>
              <a:t>   TCP 502 · RTU 串口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功能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线圈 / 离散量 / 保持寄存器读写,掩码写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代表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汇川 H3U/H5U、温控仪表、协议网关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特点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主从一问一答;无类型无上下文,65536 寄存器空间;实现最薄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坑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广播站号 0 写后不等响应;写回显各网关不一;功能码子集随厂家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627632"/>
            <a:ext cx="3611880" cy="4480560"/>
          </a:xfrm>
          <a:prstGeom prst="roundRect">
            <a:avLst>
              <a:gd name="adj" fmla="val 45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900"/>
              </a:spcAft>
            </a:pPr>
            <a:r>
              <a:rPr sz="2100" b="1" i="0">
                <a:solidFill>
                  <a:srgbClr val="1F4E5F"/>
                </a:solidFill>
                <a:latin typeface="微软雅黑"/>
                <a:ea typeface="微软雅黑"/>
              </a:rPr>
              <a:t>OPC-UA</a:t>
            </a:r>
            <a:r>
              <a:rPr sz="1250" b="1" i="0">
                <a:solidFill>
                  <a:srgbClr val="E8890C"/>
                </a:solidFill>
                <a:latin typeface="微软雅黑"/>
                <a:ea typeface="微软雅黑"/>
              </a:rPr>
              <a:t>   TCP 4840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功能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语义节点读写 / 订阅 / 浏览,类型安全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代表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倍福、西门子 Server;MES 对接底座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特点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命名空间 + 类型系统;安全策略;跨平台跨语言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坑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实现栈重(py3.7 锁 asyncua 1.1.5);端点安全策略要匹配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27632"/>
            <a:ext cx="3611880" cy="4480560"/>
          </a:xfrm>
          <a:prstGeom prst="roundRect">
            <a:avLst>
              <a:gd name="adj" fmla="val 45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900"/>
              </a:spcAft>
            </a:pPr>
            <a:r>
              <a:rPr sz="2100" b="1" i="0">
                <a:solidFill>
                  <a:srgbClr val="1F4E5F"/>
                </a:solidFill>
                <a:latin typeface="微软雅黑"/>
                <a:ea typeface="微软雅黑"/>
              </a:rPr>
              <a:t>MTConnect</a:t>
            </a:r>
            <a:r>
              <a:rPr sz="1250" b="1" i="0">
                <a:solidFill>
                  <a:srgbClr val="E8890C"/>
                </a:solidFill>
                <a:latin typeface="微软雅黑"/>
                <a:ea typeface="微软雅黑"/>
              </a:rPr>
              <a:t>   HTTP 5000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功能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/current 快照 + /probe 设备信息,只读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代表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FANUC / 三菱 CNC,台湾 PCB 钻孔·成型机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特点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HTTP/XML 零依赖;数据项 id 即地址;条件项 Fault/Warning/Normal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坑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50" b="0" i="0">
                <a:solidFill>
                  <a:srgbClr val="5F7080"/>
                </a:solidFill>
                <a:latin typeface="微软雅黑"/>
                <a:ea typeface="微软雅黑"/>
              </a:rPr>
              <a:t>UNAVAILABLE 是无值不是故障;数据项随适配器而变,先探查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0936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怎么选:要控制/参数化 → Modbus 或 OPC-UA;只采数 → MTConnect;语义化上位 → OPC-UA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08  ·  日系字协议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日系字协议:同一副骨架,各配各的锁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共同思想 = 软元件(位 X/Y/M/S + 字 D/W/R)+ 区域码 + 编号进制;「读 N 个字」是万能原语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2148840" cy="4160520"/>
          </a:xfrm>
          <a:prstGeom prst="roundRect">
            <a:avLst>
              <a:gd name="adj" fmla="val 5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4E5F"/>
                </a:solidFill>
                <a:latin typeface="微软雅黑"/>
                <a:ea typeface="微软雅黑"/>
              </a:rPr>
              <a:t>MC · 三菱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端口 5000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帧型:3E/4E 以太网,1E 老机型,3C/4C 串口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进制:X/Y/W 十六进制,1E 的 X/Y 八进制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字序:小端;位打包每字节 2 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1196" y="1783080"/>
            <a:ext cx="2148840" cy="4160520"/>
          </a:xfrm>
          <a:prstGeom prst="roundRect">
            <a:avLst>
              <a:gd name="adj" fmla="val 5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4E5F"/>
                </a:solidFill>
                <a:latin typeface="微软雅黑"/>
                <a:ea typeface="微软雅黑"/>
              </a:rPr>
              <a:t>FINS · 欧姆龙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端口 9600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先握手:20 字节换节点号再发帧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字码制:DM/W/C/EM 区(0xA0+bank)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字序:大端;T/C 位读完成标志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65192" y="1783080"/>
            <a:ext cx="2148840" cy="4160520"/>
          </a:xfrm>
          <a:prstGeom prst="roundRect">
            <a:avLst>
              <a:gd name="adj" fmla="val 5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4E5F"/>
                </a:solidFill>
                <a:latin typeface="微软雅黑"/>
                <a:ea typeface="微软雅黑"/>
              </a:rPr>
              <a:t>KV · 基恩士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端口 8000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ASCII 行式:RD / RDS / WR / WRS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格式后缀:.U/.S/.D/.L/.H 挂软元件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64 位 = 连续 4 个 .U 字小端拼接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19188" y="1783080"/>
            <a:ext cx="2148840" cy="4160520"/>
          </a:xfrm>
          <a:prstGeom prst="roundRect">
            <a:avLst>
              <a:gd name="adj" fmla="val 5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4E5F"/>
                </a:solidFill>
                <a:latin typeface="微软雅黑"/>
                <a:ea typeface="微软雅黑"/>
              </a:rPr>
              <a:t>MEWTOCOL · 松下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串口 / 以太网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串口 + 以太网双通道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另支持 MC 兼容 3E 帧双轨并行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DT/WL 软元件记号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73184" y="1783080"/>
            <a:ext cx="2148840" cy="4160520"/>
          </a:xfrm>
          <a:prstGeom prst="roundRect">
            <a:avLst>
              <a:gd name="adj" fmla="val 5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4E5F"/>
                </a:solidFill>
                <a:latin typeface="微软雅黑"/>
                <a:ea typeface="微软雅黑"/>
              </a:rPr>
              <a:t>TOYOPUC · 丰田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端口 1025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二进制帧:00 00 LL LH CMD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编号一律十六进制(含位区)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 i="0">
                <a:solidFill>
                  <a:srgbClr val="E8890C"/>
                </a:solidFill>
                <a:latin typeface="微软雅黑"/>
                <a:ea typeface="微软雅黑"/>
              </a:rPr>
              <a:t>· </a:t>
            </a: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多字数据低字在前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7220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跨品牌抄地址必翻车:同样写 X17,MC 3E 是十六进制 0x11,汇川/1E 是八进制命名 —— 进制是软元件协议的第一坑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09  ·  欧美符号寻址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欧美系:名字即地址,类型设备自己说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日系靠「编号查码表」;欧美系地址就是变量 —— 坑从「编号错」变成「类型不匹配」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5F"/>
                </a:solidFill>
                <a:latin typeface="微软雅黑"/>
                <a:ea typeface="微软雅黑"/>
              </a:rPr>
              <a:t>西门子 S7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868680" cy="402336"/>
          </a:xfrm>
          <a:prstGeom prst="roundRect">
            <a:avLst>
              <a:gd name="adj" fmla="val 16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1F4E5F"/>
                </a:solidFill>
                <a:latin typeface="微软雅黑"/>
                <a:ea typeface="微软雅黑"/>
              </a:rPr>
              <a:t>102  </a:t>
            </a:r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783080"/>
            <a:ext cx="3749039" cy="475488"/>
          </a:xfrm>
          <a:prstGeom prst="roundRect">
            <a:avLst>
              <a:gd name="adj" fmla="val 14000"/>
            </a:avLst>
          </a:prstGeom>
          <a:solidFill>
            <a:srgbClr val="1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1" i="0">
                <a:solidFill>
                  <a:srgbClr val="D7E3EA"/>
                </a:solidFill>
                <a:latin typeface="微软雅黑"/>
                <a:ea typeface="微软雅黑"/>
              </a:rPr>
              <a:t>DB1.DBX0.3   DB1.DBD6   MW10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719072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绝对寻址:区域 + 字节起点,尺寸跟 DataType 走(大端);rack/slot 路由,位写 = 锁内读-改-写;1200/1500 要开 PUT-GET 且 DB 非优化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1868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5F"/>
                </a:solidFill>
                <a:latin typeface="微软雅黑"/>
                <a:ea typeface="微软雅黑"/>
              </a:rPr>
              <a:t>AB Logix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30168"/>
            <a:ext cx="868680" cy="402336"/>
          </a:xfrm>
          <a:prstGeom prst="roundRect">
            <a:avLst>
              <a:gd name="adj" fmla="val 16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1F4E5F"/>
                </a:solidFill>
                <a:latin typeface="微软雅黑"/>
                <a:ea typeface="微软雅黑"/>
              </a:rPr>
              <a:t>44818  </a:t>
            </a:r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3264408"/>
            <a:ext cx="3749039" cy="475488"/>
          </a:xfrm>
          <a:prstGeom prst="roundRect">
            <a:avLst>
              <a:gd name="adj" fmla="val 14000"/>
            </a:avLst>
          </a:prstGeom>
          <a:solidFill>
            <a:srgbClr val="1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1" i="0">
                <a:solidFill>
                  <a:srgbClr val="D7E3EA"/>
                </a:solidFill>
                <a:latin typeface="微软雅黑"/>
                <a:ea typeface="微软雅黑"/>
              </a:rPr>
              <a:t>Conveyor.Run   PartCount[3]   Recipe_Str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200400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标签自描述:首读发现真实类型并缓存,写前必查;unconnected 默认、connected 高吞吐;STRING 上限 82 字符,BOOL 数组按 32 位打包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98848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70001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5F"/>
                </a:solidFill>
                <a:latin typeface="微软雅黑"/>
                <a:ea typeface="微软雅黑"/>
              </a:rPr>
              <a:t>倍福 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11496"/>
            <a:ext cx="868680" cy="402336"/>
          </a:xfrm>
          <a:prstGeom prst="roundRect">
            <a:avLst>
              <a:gd name="adj" fmla="val 16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/>
            <a:r>
              <a:rPr sz="1300" b="1" i="0">
                <a:solidFill>
                  <a:srgbClr val="1F4E5F"/>
                </a:solidFill>
                <a:latin typeface="微软雅黑"/>
                <a:ea typeface="微软雅黑"/>
              </a:rPr>
              <a:t>851  </a:t>
            </a:r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4745736"/>
            <a:ext cx="3749039" cy="475488"/>
          </a:xfrm>
          <a:prstGeom prst="roundRect">
            <a:avLst>
              <a:gd name="adj" fmla="val 14000"/>
            </a:avLst>
          </a:prstGeom>
          <a:solidFill>
            <a:srgbClr val="1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1" i="0">
                <a:solidFill>
                  <a:srgbClr val="D7E3EA"/>
                </a:solidFill>
                <a:latin typeface="微软雅黑"/>
                <a:ea typeface="微软雅黑"/>
              </a:rPr>
              <a:t>MAIN.axis1.actPos   GVL.recipe.name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681728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变量名直读 + NetId 路由;类型按 IEC 口径映射(SHORT→INT16、INT→DINT);字符串写不得超过 PLC 侧声明长度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199632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327648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F7080"/>
                </a:solidFill>
                <a:latin typeface="微软雅黑"/>
                <a:ea typeface="微软雅黑"/>
              </a:rPr>
              <a:t>共同点:连接参数(IP + 路由标识)之外不用背码表;但「变量名/DB 号」错误在设备侧直接拒绝 —— 参数错与设备错要分开处理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10  ·  数据表示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字节层面的三道坎:进制 · 字序 · 宽度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协议「连上了但数不对」,九成出在这三处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64208"/>
            <a:ext cx="2148840" cy="1389888"/>
          </a:xfrm>
          <a:prstGeom prst="roundRect">
            <a:avLst>
              <a:gd name="adj" fmla="val 7000"/>
            </a:avLst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进制</a:t>
            </a:r>
          </a:p>
          <a:p>
            <a:pPr algn="l">
              <a:spcBef>
                <a:spcPts val="200"/>
              </a:spcBef>
            </a:pPr>
            <a:r>
              <a:rPr sz="3000" b="1" i="0">
                <a:solidFill>
                  <a:srgbClr val="E8890C"/>
                </a:solidFill>
                <a:latin typeface="微软雅黑"/>
                <a:ea typeface="微软雅黑"/>
              </a:rPr>
              <a:t>X17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2928" y="1691640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MC 3E / FINS / TOYOPUC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1691640"/>
            <a:ext cx="6446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X 编号按十六进制 → 0x11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213969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MC 1E / 汇川 X·Y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139696"/>
            <a:ext cx="6446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八进制命名(逢 8 进 1)→ 十进制 15,汇川 MC 帧内再换 0x0F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245059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口诀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2450591"/>
            <a:ext cx="6446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地址里出现 8 或 9 还能通过,先怀疑进制理解错了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82112"/>
            <a:ext cx="2148840" cy="1389888"/>
          </a:xfrm>
          <a:prstGeom prst="roundRect">
            <a:avLst>
              <a:gd name="adj" fmla="val 7000"/>
            </a:avLst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字序</a:t>
            </a:r>
          </a:p>
          <a:p>
            <a:pPr algn="l">
              <a:spcBef>
                <a:spcPts val="200"/>
              </a:spcBef>
            </a:pPr>
            <a:r>
              <a:rPr sz="3000" b="1" i="0">
                <a:solidFill>
                  <a:srgbClr val="E8890C"/>
                </a:solidFill>
                <a:latin typeface="微软雅黑"/>
                <a:ea typeface="微软雅黑"/>
              </a:rPr>
              <a:t>0x1234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3209544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MC / KV(小端)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3209544"/>
            <a:ext cx="6446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帧内低字节在前 → 34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3657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FINS / S7 / AB(大端)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3657600"/>
            <a:ext cx="6446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高字节在前 → 12 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396849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浮点案例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3968496"/>
            <a:ext cx="6446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MC 浮点曾因「逐字再交换」读成乱值 —— 先按帧字序拼字节,再一次 unpack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00016"/>
            <a:ext cx="2148840" cy="1389888"/>
          </a:xfrm>
          <a:prstGeom prst="roundRect">
            <a:avLst>
              <a:gd name="adj" fmla="val 7000"/>
            </a:avLst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宽度</a:t>
            </a:r>
          </a:p>
          <a:p>
            <a:pPr algn="l">
              <a:spcBef>
                <a:spcPts val="200"/>
              </a:spcBef>
            </a:pPr>
            <a:r>
              <a:rPr sz="3000" b="1" i="0">
                <a:solidFill>
                  <a:srgbClr val="E8890C"/>
                </a:solidFill>
                <a:latin typeface="微软雅黑"/>
                <a:ea typeface="微软雅黑"/>
              </a:rPr>
              <a:t>×82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4727448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S7:尺寸跟类型走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727448"/>
            <a:ext cx="6446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DB1.DBD6 读 short 只取 6~7 两字节;地址只定起点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517550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AB:类型有硬上限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5175504"/>
            <a:ext cx="6446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STRING ≤ 82 字符;BOOL 数组按 DWORD 32 位打包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5486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KV:64 位自成一派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5486400"/>
            <a:ext cx="6446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连续 4 个 .U 字(小端)拼成 8 字节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7080"/>
                </a:solidFill>
                <a:latin typeface="微软雅黑"/>
                <a:ea typeface="微软雅黑"/>
              </a:rPr>
              <a:t>omniplc 对策:地址解析层统一收口进制;convert 公共字序助手(to_signed / bytes_to_words);每条读写带 DataType 宽度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11  ·  选型方法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拿到一台设备,四步定协议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从「知道型号」到「连不上」都有路可走;所有路终点都是真机联测</a:t>
            </a:r>
          </a:p>
        </p:txBody>
      </p:sp>
      <p:sp>
        <p:nvSpPr>
          <p:cNvPr id="5" name="Chevron 4"/>
          <p:cNvSpPr/>
          <p:nvPr/>
        </p:nvSpPr>
        <p:spPr>
          <a:xfrm>
            <a:off x="457200" y="1737360"/>
            <a:ext cx="2697480" cy="1143000"/>
          </a:xfrm>
          <a:prstGeom prst="chevron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① 识别设备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8EEF2"/>
                </a:solidFill>
                <a:latin typeface="微软雅黑"/>
                <a:ea typeface="微软雅黑"/>
              </a:rPr>
              <a:t>型号 / 铭牌 / 手册;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8EEF2"/>
                </a:solidFill>
                <a:latin typeface="微软雅黑"/>
                <a:ea typeface="微软雅黑"/>
              </a:rPr>
              <a:t>分清 PLC、CNC、仪表、扫码枪</a:t>
            </a:r>
          </a:p>
        </p:txBody>
      </p:sp>
      <p:sp>
        <p:nvSpPr>
          <p:cNvPr id="6" name="Chevron 5"/>
          <p:cNvSpPr/>
          <p:nvPr/>
        </p:nvSpPr>
        <p:spPr>
          <a:xfrm>
            <a:off x="3044952" y="1737360"/>
            <a:ext cx="2697480" cy="1143000"/>
          </a:xfrm>
          <a:prstGeom prst="chevron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② 查总表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8EEF2"/>
                </a:solidFill>
                <a:latin typeface="微软雅黑"/>
                <a:ea typeface="微软雅黑"/>
              </a:rPr>
              <a:t>对照品牌速查表,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8EEF2"/>
                </a:solidFill>
                <a:latin typeface="微软雅黑"/>
                <a:ea typeface="微软雅黑"/>
              </a:rPr>
              <a:t>锁定原生协议与端口</a:t>
            </a:r>
          </a:p>
        </p:txBody>
      </p:sp>
      <p:sp>
        <p:nvSpPr>
          <p:cNvPr id="7" name="Chevron 6"/>
          <p:cNvSpPr/>
          <p:nvPr/>
        </p:nvSpPr>
        <p:spPr>
          <a:xfrm>
            <a:off x="5632704" y="1737360"/>
            <a:ext cx="2697480" cy="1143000"/>
          </a:xfrm>
          <a:prstGeom prst="chevron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③ 扫开放端口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8EEF2"/>
                </a:solidFill>
                <a:latin typeface="微软雅黑"/>
                <a:ea typeface="微软雅黑"/>
              </a:rPr>
              <a:t>502 / 102 / 44818 / 9600 /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8EEF2"/>
                </a:solidFill>
                <a:latin typeface="微软雅黑"/>
                <a:ea typeface="微软雅黑"/>
              </a:rPr>
              <a:t>5000 / 4840 / 8000 逐个探</a:t>
            </a:r>
          </a:p>
        </p:txBody>
      </p:sp>
      <p:sp>
        <p:nvSpPr>
          <p:cNvPr id="8" name="Chevron 7"/>
          <p:cNvSpPr/>
          <p:nvPr/>
        </p:nvSpPr>
        <p:spPr>
          <a:xfrm>
            <a:off x="8220456" y="1737360"/>
            <a:ext cx="2697480" cy="1143000"/>
          </a:xfrm>
          <a:prstGeom prst="chevron">
            <a:avLst/>
          </a:prstGeom>
          <a:solidFill>
            <a:srgbClr val="E8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④ 真机联测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4E2"/>
                </a:solidFill>
                <a:latin typeface="微软雅黑"/>
                <a:ea typeface="微软雅黑"/>
              </a:rPr>
              <a:t>set_debug 看报文,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4E2"/>
                </a:solidFill>
                <a:latin typeface="微软雅黑"/>
                <a:ea typeface="微软雅黑"/>
              </a:rPr>
              <a:t>读写各验证一遍再定方案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3756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4E5F"/>
                </a:solidFill>
                <a:latin typeface="微软雅黑"/>
                <a:ea typeface="微软雅黑"/>
              </a:rPr>
              <a:t>品牌原生协议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全功能:读写 / 参数 / 批量 / 扫描;优先走这条(查手册定帧型与进制)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4700" y="333756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4E5F"/>
                </a:solidFill>
                <a:latin typeface="微软雅黑"/>
                <a:ea typeface="微软雅黑"/>
              </a:rPr>
              <a:t>开放标准通道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设备带 Modbus / OPC-UA Server 时优先用 —— 跨品牌统一,资料公开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33756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4E5F"/>
                </a:solidFill>
                <a:latin typeface="微软雅黑"/>
                <a:ea typeface="微软雅黑"/>
              </a:rPr>
              <a:t>只读数采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只要数据不要控制:MTConnect / OPC-UA 只读,风险与权限最小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9700" y="333756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E8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兜底方案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FF4E2"/>
                </a:solidFill>
                <a:latin typeface="微软雅黑"/>
                <a:ea typeface="微软雅黑"/>
              </a:rPr>
              <a:t>都没有 → 自定义 TCP 分隔符成帧(重连/超时可配)或串口自由口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94360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89904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F7080"/>
                </a:solidFill>
                <a:latin typeface="微软雅黑"/>
                <a:ea typeface="微软雅黑"/>
              </a:rPr>
              <a:t>分支怎么进:型号明确 → 直接走 ②;型号不明/老设备 → ③ 端口探测;命中哪个分支,就按该分支的协议与坑清单执行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12  ·  选型原则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五条选型原则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从 16 类协议的落地经验里沉淀;违反任何一条都会在联调期还债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9105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8890C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F4E5F"/>
                </a:solidFill>
                <a:latin typeface="微软雅黑"/>
                <a:ea typeface="微软雅黑"/>
              </a:rPr>
              <a:t>原生优先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733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厂商自家协议功能最全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673352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7080"/>
                </a:solidFill>
                <a:latin typeface="微软雅黑"/>
                <a:ea typeface="微软雅黑"/>
              </a:rPr>
              <a:t>AB 标签自描述、S7 全区访问、MC 批量高效 —— 走原生不吃中间层损失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50008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4144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8890C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9631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F4E5F"/>
                </a:solidFill>
                <a:latin typeface="微软雅黑"/>
                <a:ea typeface="微软雅黑"/>
              </a:rPr>
              <a:t>跨品牌看上层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237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多品牌统一对接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523744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7080"/>
                </a:solidFill>
                <a:latin typeface="微软雅黑"/>
                <a:ea typeface="微软雅黑"/>
              </a:rPr>
              <a:t>上位机接多品牌:语义模型选 OPC-UA,寄存器底座选 Modbus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8890C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4670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F4E5F"/>
                </a:solidFill>
                <a:latin typeface="微软雅黑"/>
                <a:ea typeface="微软雅黑"/>
              </a:rPr>
              <a:t>有网关不啃帧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7413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别重复造轮子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374136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7080"/>
                </a:solidFill>
                <a:latin typeface="微软雅黑"/>
                <a:ea typeface="微软雅黑"/>
              </a:rPr>
              <a:t>设备自带 OPC-UA Server / MTConnect Agent / 网关时,直接用,不解析私有帧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50791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42232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8890C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197096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F4E5F"/>
                </a:solidFill>
                <a:latin typeface="微软雅黑"/>
                <a:ea typeface="微软雅黑"/>
              </a:rPr>
              <a:t>自研 vs 封装有判据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2245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按公开程度与部署面定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22452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7080"/>
                </a:solidFill>
                <a:latin typeface="微软雅黑"/>
                <a:ea typeface="微软雅黑"/>
              </a:rPr>
              <a:t>公开标准文档全 → 自研(Modbus/MC/FINS);DLL 部署面复杂 → 封装成熟库(S7/ADS/MX)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01183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92624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8890C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4748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F4E5F"/>
                </a:solidFill>
                <a:latin typeface="微软雅黑"/>
                <a:ea typeface="微软雅黑"/>
              </a:rPr>
              <a:t>场景匹配形态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0749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A32"/>
                </a:solidFill>
                <a:latin typeface="微软雅黑"/>
                <a:ea typeface="微软雅黑"/>
              </a:rPr>
              <a:t>读和控是两回事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07492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7080"/>
                </a:solidFill>
                <a:latin typeface="微软雅黑"/>
                <a:ea typeface="微软雅黑"/>
              </a:rPr>
              <a:t>只读数采 → MTConnect;要控制/写参数 → 原生协议或 OPC-UA;权限最小化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03504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181344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4E5F"/>
                </a:solidFill>
                <a:latin typeface="微软雅黑"/>
                <a:ea typeface="微软雅黑"/>
              </a:rPr>
              <a:t>补一条铁律:任何选型落地前先真机联测 —— 手册与固件实现不一致是常态,黄金帧对不上就停在方案阶段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13  ·  协议坑 · 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帧格式坑:写在字节里的教训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每一条都在 omniplc 联调或参考库对照中被抓过现行;黄金帧 = 字节级契约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8890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64208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4E5F"/>
                </a:solidFill>
                <a:latin typeface="微软雅黑"/>
                <a:ea typeface="微软雅黑"/>
              </a:rPr>
              <a:t>4E 副头读写恒为 54 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82496"/>
            <a:ext cx="6355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照抄「写命令 = 0x58」的二手资料必然全盘失败 —— 以官方手册 SH-080956 为准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58568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8890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86584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4E5F"/>
                </a:solidFill>
                <a:latin typeface="微软雅黑"/>
                <a:ea typeface="微软雅黑"/>
              </a:rPr>
              <a:t>编号进制按帧型走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404872"/>
            <a:ext cx="6355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3E 的 X/Y 是十六进制;1E 与汇川 X/Y 是八进制;同写 X17 含义不同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80944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90672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8890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08960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4E5F"/>
                </a:solidFill>
                <a:latin typeface="微软雅黑"/>
                <a:ea typeface="微软雅黑"/>
              </a:rPr>
              <a:t>字序相反系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127248"/>
            <a:ext cx="6355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MC/KV 小端,FINS/S7/AB 大端;浮点逐字交换一遍 = 满屏乱值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1304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8890C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31336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4E5F"/>
                </a:solidFill>
                <a:latin typeface="微软雅黑"/>
                <a:ea typeface="微软雅黑"/>
              </a:rPr>
              <a:t>FINS EM 区字码 0xA0+bank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849624"/>
            <a:ext cx="6355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0xE0 段是 bank≥16 扩展区 —— 两个开源参考库都在这里写错过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25696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35424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8890C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53712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4E5F"/>
                </a:solidFill>
                <a:latin typeface="微软雅黑"/>
                <a:ea typeface="微软雅黑"/>
              </a:rPr>
              <a:t>Modbus 广播站号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572000"/>
            <a:ext cx="6355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写后不等响应;按「一问一答」处理必超时断线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48072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8890C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76088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4E5F"/>
                </a:solidFill>
                <a:latin typeface="微软雅黑"/>
                <a:ea typeface="微软雅黑"/>
              </a:rPr>
              <a:t>串口与 TCP 成帧细节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5294376"/>
            <a:ext cx="6355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MC 3C 校验和含 ETX;4C 有 DLE 附加码需逐字节解包;FINS TCP 先 20 字节握手再发帧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4476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F7080"/>
                </a:solidFill>
                <a:latin typeface="微软雅黑"/>
                <a:ea typeface="微软雅黑"/>
              </a:rPr>
              <a:t>共性:这些坑手册里都有,但散落在附录与「注意事项」;黄金帧测试把每一条钉死,回归时一眼识破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14  ·  协议坑 · 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工程部署坑:代码之外的坑更磨人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「协议写对了还是连不上」大概率在这一页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9344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890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27632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S7-1200/1500 授权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636776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PUT-GET 通信访问默认关闭,DB 须为非优化块 —— 两处不开,代码再对也连不上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4268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35708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890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5399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python-snap7 分版本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63139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1.3 缺 setuptools 起不来、只捆绑 64 位 DLL、区码必须转 Areas 枚举;3.x 纯 Python 但异常全换成 S7Error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0632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890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8036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AB 写前查类型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89503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标签类型首读缓存;STRING 上限 82 字符;BOOL 数组是 32 位打包,不能按位直写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96996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88436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890C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06724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ADS 依赖加载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15868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Windows 缺 Beckhoff DLL 时 import pyads 抛 OSError 而非 ImportError —— 要按 Exception 兜底提示装驱动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59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890C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133087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MTConnect 语义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42231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UNAVAILABLE / NOT_AVAILABLE 是设备侧无值,不是通信故障;现场数据项因适配器而异,先 snapshot 探查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9724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41164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890C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59452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汇川默认端口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768596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网口 502 多数机型不可改;串口默认 9600-8N2 —— 停止位是 2,按 1 配必收错帧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76088"/>
            <a:ext cx="11274552" cy="9525"/>
          </a:xfrm>
          <a:prstGeom prst="rect">
            <a:avLst/>
          </a:prstGeom>
          <a:solidFill>
            <a:srgbClr val="D6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67528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890C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38581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F4E5F"/>
                </a:solidFill>
                <a:latin typeface="微软雅黑"/>
                <a:ea typeface="微软雅黑"/>
              </a:rPr>
              <a:t>MX Component 批量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394960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1E2A32"/>
                </a:solidFill>
                <a:latin typeface="微软雅黑"/>
                <a:ea typeface="微软雅黑"/>
              </a:rPr>
              <a:t>位软元件批量必须 16 点一组;单点读写走 GetDevice/SetDevice 才稳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4476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F7080"/>
                </a:solidFill>
                <a:latin typeface="微软雅黑"/>
                <a:ea typeface="微软雅黑"/>
              </a:rPr>
              <a:t>共性:驱动层无能为力,必须写进部署清单 —— PLC 侧授权、Python 侧依赖版本、设备侧默认参数,三方各查一遍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F7080"/>
                </a:solidFill>
                <a:latin typeface="微软雅黑"/>
                <a:ea typeface="微软雅黑"/>
              </a:rPr>
              <a:t>15  ·  排错方法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2"/>
                </a:solidFill>
                <a:latin typeface="微软雅黑"/>
                <a:ea typeface="微软雅黑"/>
              </a:rPr>
              <a:t>排错三件套:错误契约 · 报文调试 · 四步口诀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33856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080"/>
                </a:solidFill>
                <a:latin typeface="微软雅黑"/>
                <a:ea typeface="微软雅黑"/>
              </a:rPr>
              <a:t>先分清「谁的错」,再决定「断不断线」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4E5F"/>
                </a:solidFill>
                <a:latin typeface="微软雅黑"/>
                <a:ea typeface="微软雅黑"/>
              </a:rPr>
              <a:t>错误契约(所有协议统一)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148840" cy="786384"/>
          </a:xfrm>
          <a:prstGeom prst="roundRect">
            <a:avLst>
              <a:gd name="adj" fmla="val 10000"/>
            </a:avLst>
          </a:prstGeom>
          <a:solidFill>
            <a:srgbClr val="E8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DeviceError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03911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设备侧拒绝 / 数据项不存在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44144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7080"/>
                </a:solidFill>
                <a:latin typeface="微软雅黑"/>
                <a:ea typeface="微软雅黑"/>
              </a:rPr>
              <a:t>保持连接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80944"/>
            <a:ext cx="2148840" cy="786384"/>
          </a:xfrm>
          <a:prstGeom prst="roundRect">
            <a:avLst>
              <a:gd name="adj" fmla="val 10000"/>
            </a:avLst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OSError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008376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链路断 / 超时 / 拒绝连接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4107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7080"/>
                </a:solidFill>
                <a:latin typeface="微软雅黑"/>
                <a:ea typeface="微软雅黑"/>
              </a:rPr>
              <a:t>断线,下次操作惰性重连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50208"/>
            <a:ext cx="2148840" cy="786384"/>
          </a:xfrm>
          <a:prstGeom prst="roundRect">
            <a:avLst>
              <a:gd name="adj" fmla="val 10000"/>
            </a:avLst>
          </a:prstGeom>
          <a:solidFill>
            <a:srgbClr val="4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ProtocolFrameError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9776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坏帧 / 无法解析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3799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7080"/>
                </a:solidFill>
                <a:latin typeface="微软雅黑"/>
                <a:ea typeface="微软雅黑"/>
              </a:rPr>
              <a:t>断线重同步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19472"/>
            <a:ext cx="2148840" cy="786384"/>
          </a:xfrm>
          <a:prstGeom prst="roundRect">
            <a:avLst>
              <a:gd name="adj" fmla="val 10000"/>
            </a:avLst>
          </a:prstGeom>
          <a:solidFill>
            <a:srgbClr val="5F7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ValueError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94690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E2A32"/>
                </a:solidFill>
                <a:latin typeface="微软雅黑"/>
                <a:ea typeface="微软雅黑"/>
              </a:rPr>
              <a:t>地址 / 类型 / 参数错误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349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7080"/>
                </a:solidFill>
                <a:latin typeface="微软雅黑"/>
                <a:ea typeface="微软雅黑"/>
              </a:rPr>
              <a:t>直接上抛给调用者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72768"/>
            <a:ext cx="5330952" cy="2514600"/>
          </a:xfrm>
          <a:prstGeom prst="roundRect">
            <a:avLst>
              <a:gd name="adj" fmla="val 5000"/>
            </a:avLst>
          </a:prstGeom>
          <a:solidFill>
            <a:srgbClr val="1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7E93A3"/>
                </a:solidFill>
                <a:latin typeface="微软雅黑"/>
                <a:ea typeface="微软雅黑"/>
              </a:rPr>
              <a:t># 全局报文调试:一行打开,进程级生效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D7E3EA"/>
                </a:solidFill>
                <a:latin typeface="微软雅黑"/>
                <a:ea typeface="微软雅黑"/>
              </a:rPr>
              <a:t>omniplc.set_debug(True)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7E93A3"/>
                </a:solidFill>
                <a:latin typeface="微软雅黑"/>
                <a:ea typeface="微软雅黑"/>
              </a:rPr>
              <a:t>→ 发送 tcp://192.168.0.10:5000 21B: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F0A64A"/>
                </a:solidFill>
                <a:latin typeface="微软雅黑"/>
                <a:ea typeface="微软雅黑"/>
              </a:rPr>
              <a:t>  50 00 00 FF FF 03 00 0C 00 10 00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0A64A"/>
                </a:solidFill>
                <a:latin typeface="微软雅黑"/>
                <a:ea typeface="微软雅黑"/>
              </a:rPr>
              <a:t>  01 04 00 00 A8 64 00 00 01 00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7E93A3"/>
                </a:solidFill>
                <a:latin typeface="微软雅黑"/>
                <a:ea typeface="微软雅黑"/>
              </a:rPr>
              <a:t>← 接收 tcp://192.168.0.10:5000 13B: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D7E3EA"/>
                </a:solidFill>
                <a:latin typeface="微软雅黑"/>
                <a:ea typeface="微软雅黑"/>
              </a:rPr>
              <a:t>  D0 00 00 FF FF 03 00 04 00 00 00 E2 04</a:t>
            </a:r>
          </a:p>
          <a:p>
            <a:pPr algn="l"/>
            <a:r>
              <a:rPr sz="1050" b="0" i="0">
                <a:solidFill>
                  <a:srgbClr val="7E93A3"/>
                </a:solidFill>
                <a:latin typeface="微软雅黑"/>
                <a:ea typeface="微软雅黑"/>
              </a:rPr>
              <a:t>走线协议输出真实字节;S7/ADS/OPC-UA 输出操作级日志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7939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F4E5F"/>
                </a:solidFill>
                <a:latin typeface="微软雅黑"/>
                <a:ea typeface="微软雅黑"/>
              </a:rPr>
              <a:t>排查四步口诀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700016"/>
            <a:ext cx="5330952" cy="365760"/>
          </a:xfrm>
          <a:prstGeom prst="roundRect">
            <a:avLst>
              <a:gd name="adj" fmla="val 12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1" i="0">
                <a:solidFill>
                  <a:srgbClr val="1E2A32"/>
                </a:solidFill>
                <a:latin typeface="微软雅黑"/>
                <a:ea typeface="微软雅黑"/>
              </a:rPr>
              <a:t>① 端口通不通(telnet / 扫描)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157216"/>
            <a:ext cx="5330952" cy="365760"/>
          </a:xfrm>
          <a:prstGeom prst="roundRect">
            <a:avLst>
              <a:gd name="adj" fmla="val 12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1" i="0">
                <a:solidFill>
                  <a:srgbClr val="1E2A32"/>
                </a:solidFill>
                <a:latin typeface="微软雅黑"/>
                <a:ea typeface="微软雅黑"/>
              </a:rPr>
              <a:t>② 进制对不对(查总表)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614416"/>
            <a:ext cx="5330952" cy="365760"/>
          </a:xfrm>
          <a:prstGeom prst="roundRect">
            <a:avLst>
              <a:gd name="adj" fmla="val 12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1" i="0">
                <a:solidFill>
                  <a:srgbClr val="1E2A32"/>
                </a:solidFill>
                <a:latin typeface="微软雅黑"/>
                <a:ea typeface="微软雅黑"/>
              </a:rPr>
              <a:t>③ 字序反没反(数值探针)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6071616"/>
            <a:ext cx="5330952" cy="365760"/>
          </a:xfrm>
          <a:prstGeom prst="roundRect">
            <a:avLst>
              <a:gd name="adj" fmla="val 12000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200" b="1" i="0">
                <a:solidFill>
                  <a:srgbClr val="1E2A32"/>
                </a:solidFill>
                <a:latin typeface="微软雅黑"/>
                <a:ea typeface="微软雅黑"/>
              </a:rPr>
              <a:t>④ 授权开没开(PUT-GET / 路由 / 防火墙)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4476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F7080"/>
                </a:solidFill>
                <a:latin typeface="微软雅黑"/>
                <a:ea typeface="微软雅黑"/>
              </a:rPr>
              <a:t>约定:库不吞错误 —— 设备错不断线,链路错才重连,参数错直接抛;排错先看异常类型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7080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FA5B3"/>
                </a:solidFill>
                <a:latin typeface="微软雅黑"/>
                <a:ea typeface="微软雅黑"/>
              </a:rPr>
              <a:t>16  · 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2F6F8"/>
                </a:solidFill>
                <a:latin typeface="微软雅黑"/>
                <a:ea typeface="微软雅黑"/>
              </a:rPr>
              <a:t>记住三件事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8890C"/>
                </a:solidFill>
                <a:latin typeface="微软雅黑"/>
                <a:ea typeface="微软雅黑"/>
              </a:rPr>
              <a:t>进制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2F6F8"/>
                </a:solidFill>
                <a:latin typeface="微软雅黑"/>
                <a:ea typeface="微软雅黑"/>
              </a:rPr>
              <a:t>编号写错,帧全白发</a:t>
            </a:r>
          </a:p>
          <a:p>
            <a:pPr algn="l"/>
            <a:r>
              <a:rPr sz="1200" b="0" i="0">
                <a:solidFill>
                  <a:srgbClr val="8FA5B3"/>
                </a:solidFill>
                <a:latin typeface="微软雅黑"/>
                <a:ea typeface="微软雅黑"/>
              </a:rPr>
              <a:t>X/Y 十六进制还是八进制,总表先查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8536" y="16916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8890C"/>
                </a:solidFill>
                <a:latin typeface="微软雅黑"/>
                <a:ea typeface="微软雅黑"/>
              </a:rPr>
              <a:t>字序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2F6F8"/>
                </a:solidFill>
                <a:latin typeface="微软雅黑"/>
                <a:ea typeface="微软雅黑"/>
              </a:rPr>
              <a:t>小端大端,数值满屏乱</a:t>
            </a:r>
          </a:p>
          <a:p>
            <a:pPr algn="l"/>
            <a:r>
              <a:rPr sz="1200" b="0" i="0">
                <a:solidFill>
                  <a:srgbClr val="8FA5B3"/>
                </a:solidFill>
                <a:latin typeface="微软雅黑"/>
                <a:ea typeface="微软雅黑"/>
              </a:rPr>
              <a:t>MC/KV 小端;FINS/S7/AB 大端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916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8890C"/>
                </a:solidFill>
                <a:latin typeface="微软雅黑"/>
                <a:ea typeface="微软雅黑"/>
              </a:rPr>
              <a:t>连接语义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2F6F8"/>
                </a:solidFill>
                <a:latin typeface="微软雅黑"/>
                <a:ea typeface="微软雅黑"/>
              </a:rPr>
              <a:t>哪些错断线,哪些不断</a:t>
            </a:r>
          </a:p>
          <a:p>
            <a:pPr algn="l"/>
            <a:r>
              <a:rPr sz="1200" b="0" i="0">
                <a:solidFill>
                  <a:srgbClr val="8FA5B3"/>
                </a:solidFill>
                <a:latin typeface="微软雅黑"/>
                <a:ea typeface="微软雅黑"/>
              </a:rPr>
              <a:t>设备错不断线,链路错才重连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8890C"/>
                </a:solidFill>
                <a:latin typeface="微软雅黑"/>
                <a:ea typeface="微软雅黑"/>
              </a:rPr>
              <a:t>上手路径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5371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890C"/>
                </a:solidFill>
                <a:latin typeface="微软雅黑"/>
                <a:ea typeface="微软雅黑"/>
              </a:rPr>
              <a:t>01  </a:t>
            </a:r>
            <a:r>
              <a:rPr sz="1250" b="0" i="0">
                <a:solidFill>
                  <a:srgbClr val="F2F6F8"/>
                </a:solidFill>
                <a:latin typeface="微软雅黑"/>
                <a:ea typeface="微软雅黑"/>
              </a:rPr>
              <a:t>读 docs/architecture.md §8:每协议一节(帧布局 / 坑 / 参考库)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37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890C"/>
                </a:solidFill>
                <a:latin typeface="微软雅黑"/>
                <a:ea typeface="微软雅黑"/>
              </a:rPr>
              <a:t>02  </a:t>
            </a:r>
            <a:r>
              <a:rPr sz="1250" b="0" i="0">
                <a:solidFill>
                  <a:srgbClr val="F2F6F8"/>
                </a:solidFill>
                <a:latin typeface="微软雅黑"/>
                <a:ea typeface="微软雅黑"/>
              </a:rPr>
              <a:t>跑 tests/unit 对应用例;tests/golden 是字节级黄金帧,改协议先看它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2180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890C"/>
                </a:solidFill>
                <a:latin typeface="微软雅黑"/>
                <a:ea typeface="微软雅黑"/>
              </a:rPr>
              <a:t>03  </a:t>
            </a:r>
            <a:r>
              <a:rPr sz="1250" b="0" i="0">
                <a:solidFill>
                  <a:srgbClr val="F2F6F8"/>
                </a:solidFill>
                <a:latin typeface="微软雅黑"/>
                <a:ea typeface="微软雅黑"/>
              </a:rPr>
              <a:t>omniplc.set_debug(True) 连真机,逐字节比对请求与响应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705856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890C"/>
                </a:solidFill>
                <a:latin typeface="微软雅黑"/>
                <a:ea typeface="微软雅黑"/>
              </a:rPr>
              <a:t>04  </a:t>
            </a:r>
            <a:r>
              <a:rPr sz="1250" b="0" i="0">
                <a:solidFill>
                  <a:srgbClr val="F2F6F8"/>
                </a:solidFill>
                <a:latin typeface="微软雅黑"/>
                <a:ea typeface="微软雅黑"/>
              </a:rPr>
              <a:t>深挖 §8.1 参考库清单:pymodbus / fins-driver / pylogix / pycomm3 / snap7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263640"/>
            <a:ext cx="11274552" cy="9525"/>
          </a:xfrm>
          <a:prstGeom prst="rect">
            <a:avLst/>
          </a:prstGeom>
          <a:solidFill>
            <a:srgbClr val="2C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82512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5B3"/>
                </a:solidFill>
                <a:latin typeface="微软雅黑"/>
                <a:ea typeface="微软雅黑"/>
              </a:rPr>
              <a:t>omniplc · 16 类协议 · 503 项单测 · 黄金帧契约 · 同步/异步双镜像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A5B3"/>
                </a:solidFill>
                <a:latin typeface="微软雅黑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